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457200"/>
            <a:ext cx="2286000" cy="2286000"/>
          </a:xfrm>
          <a:prstGeom prst="ellipse">
            <a:avLst/>
          </a:prstGeom>
          <a:solidFill>
            <a:srgbClr val="00D4AA">
              <a:alpha val="15000"/>
            </a:srgbClr>
          </a:solidFill>
          <a:ln w="12700">
            <a:solidFill>
              <a:srgbClr val="00D4AA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3200400"/>
            <a:ext cx="1371600" cy="1371600"/>
          </a:xfrm>
          <a:prstGeom prst="ellipse">
            <a:avLst/>
          </a:prstGeom>
          <a:solidFill>
            <a:srgbClr val="00D4AA">
              <a:alpha val="10000"/>
            </a:srgbClr>
          </a:solidFill>
          <a:ln w="12700">
            <a:solidFill>
              <a:srgbClr val="00D4AA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548640"/>
            <a:ext cx="1463040" cy="32004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5486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2E"/>
                </a:solidFill>
              </a:rPr>
              <a:t>FER ZAGREB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Predviđanje financijskih pokazatelja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primjenom metoda strojnog učenja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457200" y="2468880"/>
            <a:ext cx="6858000" cy="457200"/>
          </a:xfrm>
          <a:prstGeom prst="rect">
            <a:avLst/>
          </a:prstGeom>
          <a:solidFill>
            <a:srgbClr val="0F3460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46888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D4AA"/>
                </a:solidFill>
              </a:rPr>
              <a:t>Kako ML može poboljšati točnost financijskih prognoza?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Petar</a:t>
            </a:r>
            <a:pPr indent="0" marL="0">
              <a:buNone/>
            </a:pPr>
            <a:r>
              <a:rPr lang="en-US" sz="1200" dirty="0">
                <a:solidFill>
                  <a:srgbClr val="A0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FER Zagreb, 2026.   |   Mentor: izv. prof. dr. sc. Goran Delač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4480560"/>
            <a:ext cx="8229600" cy="18288"/>
          </a:xfrm>
          <a:prstGeom prst="rect">
            <a:avLst/>
          </a:prstGeom>
          <a:solidFill>
            <a:srgbClr val="00D4AA">
              <a:alpha val="50000"/>
            </a:srgbClr>
          </a:solidFill>
          <a:ln w="12700">
            <a:solidFill>
              <a:srgbClr val="00D4AA">
                <a:alpha val="5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0C0"/>
                </a:solidFill>
              </a:rPr>
              <a:t>Završni rad — Fakultet elektrotehnike i računarstva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Arhitektura rješenja — ML Pipeline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09728" cy="6858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868680"/>
            <a:ext cx="2057400" cy="3474720"/>
          </a:xfrm>
          <a:prstGeom prst="rect">
            <a:avLst/>
          </a:prstGeom>
          <a:solidFill>
            <a:srgbClr val="16213E"/>
          </a:solidFill>
          <a:ln w="19050">
            <a:solidFill>
              <a:srgbClr val="00D4A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868680"/>
            <a:ext cx="2057400" cy="41148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86868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</a:rPr>
              <a:t>IZVORI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</a:rPr>
              <a:t>PODATAKA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82880" y="132588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📥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74320" y="1874520"/>
            <a:ext cx="18745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sustav (P&amp;L)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0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Računovodstvo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0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Makro indikatori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0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2021–2025, mj.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40280" y="2606040"/>
            <a:ext cx="365760" cy="0"/>
          </a:xfrm>
          <a:prstGeom prst="line">
            <a:avLst/>
          </a:prstGeom>
          <a:noFill/>
          <a:ln w="25400">
            <a:solidFill>
              <a:srgbClr val="00D4A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14600" y="2487168"/>
            <a:ext cx="228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D4AA"/>
                </a:solidFill>
              </a:rPr>
              <a:t>▶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423160" y="868680"/>
            <a:ext cx="2057400" cy="3474720"/>
          </a:xfrm>
          <a:prstGeom prst="rect">
            <a:avLst/>
          </a:prstGeom>
          <a:solidFill>
            <a:srgbClr val="16213E"/>
          </a:solidFill>
          <a:ln w="19050">
            <a:solidFill>
              <a:srgbClr val="00D4A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23160" y="868680"/>
            <a:ext cx="2057400" cy="41148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68880" y="86868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</a:rPr>
              <a:t>OBRADA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</a:rPr>
              <a:t>&amp; ETL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423160" y="132588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514600" y="1874520"/>
            <a:ext cx="18745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Qlik Load Script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0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Anonimizacija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0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Čišćenje podataka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0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Qlik data model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480560" y="2606040"/>
            <a:ext cx="365760" cy="0"/>
          </a:xfrm>
          <a:prstGeom prst="line">
            <a:avLst/>
          </a:prstGeom>
          <a:noFill/>
          <a:ln w="25400">
            <a:solidFill>
              <a:srgbClr val="00D4A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2487168"/>
            <a:ext cx="228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D4AA"/>
                </a:solidFill>
              </a:rPr>
              <a:t>▶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868680"/>
            <a:ext cx="2057400" cy="3474720"/>
          </a:xfrm>
          <a:prstGeom prst="rect">
            <a:avLst/>
          </a:prstGeom>
          <a:solidFill>
            <a:srgbClr val="16213E"/>
          </a:solidFill>
          <a:ln w="19050">
            <a:solidFill>
              <a:srgbClr val="00D4A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868680"/>
            <a:ext cx="2057400" cy="41148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86868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</a:rPr>
              <a:t>PREDVI-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</a:rPr>
              <a:t>ĐANJE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663440" y="132588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754880" y="1874520"/>
            <a:ext cx="18745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Qlik Predict (A)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0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ARIMA / XGBoost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0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(Keras)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0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Usporedba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720840" y="2606040"/>
            <a:ext cx="365760" cy="0"/>
          </a:xfrm>
          <a:prstGeom prst="line">
            <a:avLst/>
          </a:prstGeom>
          <a:noFill/>
          <a:ln w="25400">
            <a:solidFill>
              <a:srgbClr val="00D4A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95160" y="2487168"/>
            <a:ext cx="228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D4AA"/>
                </a:solidFill>
              </a:rPr>
              <a:t>▶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903720" y="868680"/>
            <a:ext cx="2057400" cy="3474720"/>
          </a:xfrm>
          <a:prstGeom prst="rect">
            <a:avLst/>
          </a:prstGeom>
          <a:solidFill>
            <a:srgbClr val="16213E"/>
          </a:solidFill>
          <a:ln w="19050">
            <a:solidFill>
              <a:srgbClr val="00D4A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903720" y="868680"/>
            <a:ext cx="2057400" cy="41148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49440" y="86868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</a:rPr>
              <a:t>EVALU-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</a:rPr>
              <a:t>ACIJA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903720" y="132588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6995160" y="1874520"/>
            <a:ext cx="18745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MAE, RMSE, MAPE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0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Python modeli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0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Baseline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0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Qlik dashboard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82880" y="4526280"/>
            <a:ext cx="8778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0A0C0"/>
                </a:solidFill>
              </a:rPr>
              <a:t>* Put A (Qlik Predict) i Put B (Python) rade paralelno u bloku Predviđanje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Poglavlje 5 — Priprema i obrada podataka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82880" y="978408"/>
            <a:ext cx="438912" cy="438912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9784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02336" y="1417320"/>
            <a:ext cx="0" cy="155448"/>
          </a:xfrm>
          <a:prstGeom prst="line">
            <a:avLst/>
          </a:prstGeom>
          <a:noFill/>
          <a:ln w="19050">
            <a:solidFill>
              <a:srgbClr val="00D4AA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731520" y="932688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📥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234440" y="877824"/>
            <a:ext cx="7680960" cy="603504"/>
          </a:xfrm>
          <a:prstGeom prst="rect">
            <a:avLst/>
          </a:prstGeom>
          <a:solidFill>
            <a:srgbClr val="16213E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877824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AA"/>
                </a:solidFill>
              </a:rPr>
              <a:t>PRIKUPLJANJE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0" y="877824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ERP export (CSV/Excel) + javni makroekonomski podatci (BDP, inflacija, kamatne stope)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82880" y="1728216"/>
            <a:ext cx="438912" cy="438912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2880" y="17282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02336" y="2167128"/>
            <a:ext cx="0" cy="155448"/>
          </a:xfrm>
          <a:prstGeom prst="line">
            <a:avLst/>
          </a:prstGeom>
          <a:noFill/>
          <a:ln w="19050">
            <a:solidFill>
              <a:srgbClr val="00D4AA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731520" y="1682496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📝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234440" y="1627632"/>
            <a:ext cx="7680960" cy="603504"/>
          </a:xfrm>
          <a:prstGeom prst="rect">
            <a:avLst/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71600" y="1627632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AA"/>
                </a:solidFill>
              </a:rPr>
              <a:t>ANONIMIZACIJA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57600" y="1627632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Promjena naziva tvrtke, modifikacija iznosa uz očuvanje trendova i sezonalnosti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82880" y="2478024"/>
            <a:ext cx="438912" cy="438912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2880" y="24780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3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02336" y="2916936"/>
            <a:ext cx="0" cy="155448"/>
          </a:xfrm>
          <a:prstGeom prst="line">
            <a:avLst/>
          </a:prstGeom>
          <a:noFill/>
          <a:ln w="19050">
            <a:solidFill>
              <a:srgbClr val="00D4AA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31520" y="2432304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🧹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234440" y="2377440"/>
            <a:ext cx="7680960" cy="603504"/>
          </a:xfrm>
          <a:prstGeom prst="rect">
            <a:avLst/>
          </a:prstGeom>
          <a:solidFill>
            <a:srgbClr val="16213E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371600" y="2377440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AA"/>
                </a:solidFill>
              </a:rPr>
              <a:t>ČIŠĆENJE — Qlik Load Script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657600" y="2377440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Nedostajuće vrijednosti, outlieri, standardizacija formata datuma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82880" y="3227832"/>
            <a:ext cx="438912" cy="438912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82880" y="32278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4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02336" y="3666744"/>
            <a:ext cx="0" cy="155448"/>
          </a:xfrm>
          <a:prstGeom prst="line">
            <a:avLst/>
          </a:prstGeom>
          <a:noFill/>
          <a:ln w="19050">
            <a:solidFill>
              <a:srgbClr val="00D4AA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731520" y="3182112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🔄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1234440" y="3127248"/>
            <a:ext cx="7680960" cy="603504"/>
          </a:xfrm>
          <a:prstGeom prst="rect">
            <a:avLst/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371600" y="3127248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AA"/>
                </a:solidFill>
              </a:rPr>
              <a:t>TRANSFORMACIJA &amp; MODELIRANJE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657600" y="3127248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Pivotiranje, agregiranje, izračun EBITDA i marži — Qlik asocijativni engine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82880" y="3977640"/>
            <a:ext cx="438912" cy="438912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82880" y="39776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5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31520" y="3931920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1234440" y="3877056"/>
            <a:ext cx="7680960" cy="603504"/>
          </a:xfrm>
          <a:prstGeom prst="rect">
            <a:avLst/>
          </a:prstGeom>
          <a:solidFill>
            <a:srgbClr val="16213E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71600" y="3877056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AA"/>
                </a:solidFill>
              </a:rPr>
              <a:t>PRIPREMA ZA MODELE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657600" y="3877056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Train: 2021–2024 (80%)   |   Test: 2025 (20%)   |   Export za Qlik Predict + CSV za Python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82880" y="4617720"/>
            <a:ext cx="8778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A0A0C0"/>
                </a:solidFill>
              </a:rPr>
              <a:t>Train/Test split osigurava vremenski ispravan redoslijed — nema data leakage-a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Poglavlje 6 — Modeli i usporedba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82880" y="777240"/>
            <a:ext cx="4114800" cy="38404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77724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🔵 Qlik Predict (no-code)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82880" y="1161288"/>
            <a:ext cx="4114800" cy="1554480"/>
          </a:xfrm>
          <a:prstGeom prst="rect">
            <a:avLst/>
          </a:prstGeom>
          <a:solidFill>
            <a:srgbClr val="16213E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188720"/>
            <a:ext cx="3840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Automatski odabir algoritma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Zero-code konfiguracija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objašnjivost rezultata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Integriran u Qlik dashboard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Modeli: auto-selected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777240"/>
            <a:ext cx="4114800" cy="38404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77724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🟢 Python ML (benchmark)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161288"/>
            <a:ext cx="4114800" cy="1554480"/>
          </a:xfrm>
          <a:prstGeom prst="rect">
            <a:avLst/>
          </a:prstGeom>
          <a:solidFill>
            <a:srgbClr val="16213E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188720"/>
            <a:ext cx="3840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Ručna implementacija modela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Potpuna kontrola hiperparametara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vizualizacije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skripte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ARIMA   ·   XGBoost   ·   LSTM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51960" y="914400"/>
            <a:ext cx="640080" cy="640080"/>
          </a:xfrm>
          <a:prstGeom prst="ellipse">
            <a:avLst/>
          </a:prstGeom>
          <a:solidFill>
            <a:srgbClr val="0F3460"/>
          </a:solidFill>
          <a:ln w="19050">
            <a:solidFill>
              <a:srgbClr val="00D4A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51960" y="914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AA"/>
                </a:solidFill>
              </a:rPr>
              <a:t>VS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" y="2834640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AA"/>
                </a:solidFill>
              </a:rPr>
              <a:t>Tablica metrika evaluacije (popunjava se nakon eksperimenta)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3154680"/>
          <a:ext cx="8778240" cy="1417320"/>
        </p:xfrm>
        <a:graphic>
          <a:graphicData uri="http://schemas.openxmlformats.org/drawingml/2006/table">
            <a:tbl>
              <a:tblPr/>
              <a:tblGrid>
                <a:gridCol w="2926080"/>
                <a:gridCol w="1920240"/>
                <a:gridCol w="1920240"/>
                <a:gridCol w="2011680"/>
              </a:tblGrid>
              <a:tr h="35433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Pokazatelj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MAPE (%)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Prihodi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A0A0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A0A0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A0A0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Troškovi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A0A0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A0A0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A0A0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A0A0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A0A0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A0A0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</a:tbl>
          </a:graphicData>
        </a:graphic>
      </p:graphicFrame>
      <p:sp>
        <p:nvSpPr>
          <p:cNvPr id="17" name="Text 14"/>
          <p:cNvSpPr/>
          <p:nvPr/>
        </p:nvSpPr>
        <p:spPr>
          <a:xfrm>
            <a:off x="182880" y="4645152"/>
            <a:ext cx="8778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A0A0C0"/>
                </a:solidFill>
              </a:rPr>
              <a:t>Qlik Predict vs Python vs Naivna prognoza (baseline)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Bonus — SSE Integracija (best of both worlds)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0D4AA"/>
                </a:solidFill>
              </a:rPr>
              <a:t>Moguća integracija Python modela direktno u Qlik putem Server-Side Extensions — best of both worlds.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1737360" cy="1371600"/>
          </a:xfrm>
          <a:prstGeom prst="rect">
            <a:avLst/>
          </a:prstGeom>
          <a:solidFill>
            <a:srgbClr val="16213E"/>
          </a:solidFill>
          <a:ln w="19050">
            <a:solidFill>
              <a:srgbClr val="00D4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69164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🖥️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65760" y="23317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Qlik Sense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App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03120" y="2286000"/>
            <a:ext cx="384048" cy="0"/>
          </a:xfrm>
          <a:prstGeom prst="line">
            <a:avLst/>
          </a:prstGeom>
          <a:noFill/>
          <a:ln w="25400">
            <a:solidFill>
              <a:srgbClr val="00D4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31720" y="2157984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D4AA"/>
                </a:solidFill>
              </a:rPr>
              <a:t>▶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606040" y="1600200"/>
            <a:ext cx="1737360" cy="1371600"/>
          </a:xfrm>
          <a:prstGeom prst="rect">
            <a:avLst/>
          </a:prstGeom>
          <a:solidFill>
            <a:srgbClr val="16213E"/>
          </a:solidFill>
          <a:ln w="19050">
            <a:solidFill>
              <a:srgbClr val="00D4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06040" y="169164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🔌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606040" y="23317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SSE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Konektor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43400" y="2286000"/>
            <a:ext cx="384048" cy="0"/>
          </a:xfrm>
          <a:prstGeom prst="line">
            <a:avLst/>
          </a:prstGeom>
          <a:noFill/>
          <a:ln w="25400">
            <a:solidFill>
              <a:srgbClr val="00D4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2157984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D4AA"/>
                </a:solidFill>
              </a:rPr>
              <a:t>▶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0" y="1600200"/>
            <a:ext cx="1737360" cy="1371600"/>
          </a:xfrm>
          <a:prstGeom prst="rect">
            <a:avLst/>
          </a:prstGeom>
          <a:solidFill>
            <a:srgbClr val="16213E"/>
          </a:solidFill>
          <a:ln w="19050">
            <a:solidFill>
              <a:srgbClr val="2ECC7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169164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🐍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846320" y="23317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CC71"/>
                </a:solidFill>
              </a:rPr>
              <a:t>Python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ECC71"/>
                </a:solidFill>
              </a:rPr>
              <a:t>Microservice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583680" y="2286000"/>
            <a:ext cx="384048" cy="0"/>
          </a:xfrm>
          <a:prstGeom prst="line">
            <a:avLst/>
          </a:prstGeom>
          <a:noFill/>
          <a:ln w="25400">
            <a:solidFill>
              <a:srgbClr val="00D4A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12280" y="2157984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D4AA"/>
                </a:solidFill>
              </a:rPr>
              <a:t>▶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086600" y="1600200"/>
            <a:ext cx="1737360" cy="1371600"/>
          </a:xfrm>
          <a:prstGeom prst="rect">
            <a:avLst/>
          </a:prstGeom>
          <a:solidFill>
            <a:srgbClr val="16213E"/>
          </a:solidFill>
          <a:ln w="19050">
            <a:solidFill>
              <a:srgbClr val="00D4A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86600" y="169164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📈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7086600" y="23317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Rezultati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u Qlik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3246120"/>
            <a:ext cx="2057400" cy="1371600"/>
          </a:xfrm>
          <a:prstGeom prst="rect">
            <a:avLst/>
          </a:prstGeom>
          <a:solidFill>
            <a:srgbClr val="0F3460"/>
          </a:solidFill>
          <a:ln w="12700">
            <a:solidFill>
              <a:srgbClr val="00D4AA">
                <a:alpha val="5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AA"/>
                </a:solidFill>
              </a:rPr>
              <a:t>Qlik UI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3675888"/>
            <a:ext cx="18745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Interaktivni dashboardi i vizualizacije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606040" y="3246120"/>
            <a:ext cx="2057400" cy="1371600"/>
          </a:xfrm>
          <a:prstGeom prst="rect">
            <a:avLst/>
          </a:prstGeom>
          <a:solidFill>
            <a:srgbClr val="0F3460"/>
          </a:solidFill>
          <a:ln w="12700">
            <a:solidFill>
              <a:srgbClr val="00D4AA">
                <a:alpha val="5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606040" y="3273552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AA"/>
                </a:solidFill>
              </a:rPr>
              <a:t>Python Power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697480" y="3675888"/>
            <a:ext cx="18745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Napredni ML modeli bez ograničenja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46320" y="3246120"/>
            <a:ext cx="2057400" cy="1371600"/>
          </a:xfrm>
          <a:prstGeom prst="rect">
            <a:avLst/>
          </a:prstGeom>
          <a:solidFill>
            <a:srgbClr val="0F3460"/>
          </a:solidFill>
          <a:ln w="12700">
            <a:solidFill>
              <a:srgbClr val="00D4AA">
                <a:alpha val="5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3273552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AA"/>
                </a:solidFill>
              </a:rPr>
              <a:t>Real-time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37760" y="3675888"/>
            <a:ext cx="18745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Predikcije direktno u Qlik aplikaciji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086600" y="3246120"/>
            <a:ext cx="2057400" cy="1371600"/>
          </a:xfrm>
          <a:prstGeom prst="rect">
            <a:avLst/>
          </a:prstGeom>
          <a:solidFill>
            <a:srgbClr val="0F3460"/>
          </a:solidFill>
          <a:ln w="12700">
            <a:solidFill>
              <a:srgbClr val="00D4AA">
                <a:alpha val="5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086600" y="3273552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AA"/>
                </a:solidFill>
              </a:rPr>
              <a:t>Skalabilnost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178040" y="3675888"/>
            <a:ext cx="18745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Mikroservisna arhitektura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82880" y="4754880"/>
            <a:ext cx="8778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A0A0C0"/>
                </a:solidFill>
              </a:rPr>
              <a:t>SSE = Server-Side Extensions | Zahtijeva Qlik Cloud s odgovarajućim licencama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Status i sljedeći koraci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583680" y="109728"/>
            <a:ext cx="2377440" cy="4572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0" y="10972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PROGRESS: ~45%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8595360" cy="228600"/>
          </a:xfrm>
          <a:prstGeom prst="rect">
            <a:avLst/>
          </a:prstGeom>
          <a:solidFill>
            <a:srgbClr val="16213E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841248"/>
            <a:ext cx="3867912" cy="2286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0" y="84124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2E"/>
                </a:solidFill>
              </a:rPr>
              <a:t>45%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74320" y="1170432"/>
            <a:ext cx="8595360" cy="429768"/>
          </a:xfrm>
          <a:prstGeom prst="rect">
            <a:avLst/>
          </a:prstGeom>
          <a:solidFill>
            <a:srgbClr val="0D2D20"/>
          </a:solidFill>
          <a:ln w="12700">
            <a:solidFill>
              <a:srgbClr val="1A6A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170432"/>
            <a:ext cx="4114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✅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1170432"/>
            <a:ext cx="5029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Poglavlje 1 — Uvod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852160" y="1170432"/>
            <a:ext cx="29260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00D4AA"/>
                </a:solidFill>
              </a:rPr>
              <a:t>Gotovo ✓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1645920"/>
            <a:ext cx="8595360" cy="429768"/>
          </a:xfrm>
          <a:prstGeom prst="rect">
            <a:avLst/>
          </a:prstGeom>
          <a:solidFill>
            <a:srgbClr val="0D2D20"/>
          </a:solidFill>
          <a:ln w="12700">
            <a:solidFill>
              <a:srgbClr val="1A6A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1645920"/>
            <a:ext cx="4114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✅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77240" y="1645920"/>
            <a:ext cx="5029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Poglavlje 2 — Financijsko planiranje i analiza odstupanja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852160" y="1645920"/>
            <a:ext cx="29260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00D4AA"/>
                </a:solidFill>
              </a:rPr>
              <a:t>Gotovo ✓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2121408"/>
            <a:ext cx="8595360" cy="429768"/>
          </a:xfrm>
          <a:prstGeom prst="rect">
            <a:avLst/>
          </a:prstGeom>
          <a:solidFill>
            <a:srgbClr val="0D2D20"/>
          </a:solidFill>
          <a:ln w="12700">
            <a:solidFill>
              <a:srgbClr val="1A6A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121408"/>
            <a:ext cx="4114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✅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77240" y="2121408"/>
            <a:ext cx="5029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Poglavlje 3 — Metode strojnog učenja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852160" y="2121408"/>
            <a:ext cx="29260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00D4AA"/>
                </a:solidFill>
              </a:rPr>
              <a:t>Gotovo ✓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2596896"/>
            <a:ext cx="8595360" cy="429768"/>
          </a:xfrm>
          <a:prstGeom prst="rect">
            <a:avLst/>
          </a:prstGeom>
          <a:solidFill>
            <a:srgbClr val="0D2D20"/>
          </a:solidFill>
          <a:ln w="12700">
            <a:solidFill>
              <a:srgbClr val="1A6A4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2596896"/>
            <a:ext cx="4114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✅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77240" y="2596896"/>
            <a:ext cx="5029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Poglavlje 4 — Korišteni alati i tehnologije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852160" y="2596896"/>
            <a:ext cx="29260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00D4AA"/>
                </a:solidFill>
              </a:rPr>
              <a:t>Gotovo ✓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3072384"/>
            <a:ext cx="8595360" cy="429768"/>
          </a:xfrm>
          <a:prstGeom prst="rect">
            <a:avLst/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3072384"/>
            <a:ext cx="4114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🔲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77240" y="3072384"/>
            <a:ext cx="5029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C0"/>
                </a:solidFill>
              </a:rPr>
              <a:t>Poglavlje 5 — Priprema i obrada podataka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852160" y="3072384"/>
            <a:ext cx="29260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E67E22"/>
                </a:solidFill>
              </a:rPr>
              <a:t>⏳ Čeka pristup Qliku i podatcima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4320" y="3547872"/>
            <a:ext cx="8595360" cy="429768"/>
          </a:xfrm>
          <a:prstGeom prst="rect">
            <a:avLst/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3547872"/>
            <a:ext cx="4114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🔲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77240" y="3547872"/>
            <a:ext cx="5029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C0"/>
                </a:solidFill>
              </a:rPr>
              <a:t>Poglavlje 6 — Rezultati predviđanja i usporedba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852160" y="3547872"/>
            <a:ext cx="29260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E67E22"/>
                </a:solidFill>
              </a:rPr>
              <a:t>⏳ Čeka Qlik Predict + Python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4320" y="4023360"/>
            <a:ext cx="8595360" cy="429768"/>
          </a:xfrm>
          <a:prstGeom prst="rect">
            <a:avLst/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" y="4023360"/>
            <a:ext cx="4114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🔲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77240" y="4023360"/>
            <a:ext cx="5029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C0"/>
                </a:solidFill>
              </a:rPr>
              <a:t>Poglavlje 7 — Zaključak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852160" y="4023360"/>
            <a:ext cx="29260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E67E22"/>
                </a:solidFill>
              </a:rPr>
              <a:t>⏳ Nakon eksperimenta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74320" y="4572000"/>
            <a:ext cx="8595360" cy="411480"/>
          </a:xfrm>
          <a:prstGeom prst="rect">
            <a:avLst/>
          </a:prstGeom>
          <a:solidFill>
            <a:srgbClr val="0F3460"/>
          </a:solidFill>
          <a:ln w="19050">
            <a:solidFill>
              <a:srgbClr val="00D4A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4572000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AA"/>
                </a:solidFill>
              </a:rPr>
              <a:t>Što trebam od tima: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Qlik Cloud pristup s Predict licencom  ·  Anonimiziran financijski dataset  ·  Validacija pipeline-a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Predviđanje financijskih pokazatelja primjenom metoda strojnog učenja</dc:title>
  <dc:subject>PptxGenJS Presentation</dc:subject>
  <dc:creator>PptxGenJS</dc:creator>
  <cp:lastModifiedBy>PptxGenJS</cp:lastModifiedBy>
  <cp:revision>1</cp:revision>
  <dcterms:created xsi:type="dcterms:W3CDTF">2026-05-06T12:51:37Z</dcterms:created>
  <dcterms:modified xsi:type="dcterms:W3CDTF">2026-05-06T12:51:37Z</dcterms:modified>
</cp:coreProperties>
</file>